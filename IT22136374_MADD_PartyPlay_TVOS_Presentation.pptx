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evaluators. I am Jayasundara R.K.M.J.Y. (IT22136374). Today I present PartyPlay TV, an interactive Apple tvOS multiplayer trivia game show engineered natively for Apple TV 4K and the Siri Remote.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gaps: passive 4K TV screens, mobile trivia isolating players into tiny screens, and party games costing $30 with complex setup. PartyPlay TV fixes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solution is simple: turn the TV into a game show. The Apple TV hosts the game, players use the Siri Remote or phones, and smart offline bots allow instant play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key values: a focus UI built for the remote, 42 curated questions with Sri Lankan trivia, speed-bonus scoring, and 100% offline play with zero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six-stage flow we will see in the live demo: Home, Category Select, Setup, Lobby, Quiz Arena, and Podium. It uses standard Siri Remote gestures: swipe, click, and Menu.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 one is our 10-foot design system. Built with SwiftUI FocusState, cards lift with parallax scaling and cyan glowing borders when the Siri Remote hovers over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 two is the Quiz Arena. A three-stage circular countdown adds urgency. Answering fast awards up to 50% extra speed bonus points, with instant educational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 three covers matchmaking and the finale. Our lobby generates native QR codes and adds offline bots for instant play. Matches conclude on a 3D-style champion podium.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target three audiences: families wanting shared screen time, students hosting dorm game nights, and teachers in classrooms. Backed by 40M active Apple TV devices worldwide.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PartyPlay TV beats Jackbox on price and offline play, and beats Kahoot on TV-native ergonomics. Our roadmap expands from this standalone prototype to live phone buzzers and SharePlay.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PartyPlay TV has zero third-party dependencies and runs at a rock-solid 60 FPS. All 10 out of 10 unit tests pass with a 100% success rate, validating our scoring math, data integrity, and game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conclude: PartyPlay TV turns the TV into an active social stage with zero setup friction. Thank you for your time. Let's switch to the tvOS Simulator for the live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7772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Nunito Sans"/>
              </a:defRPr>
            </a:pPr>
            <a:r>
              <a:t>SE4041 MADD  •  ASSIGNMENT 02 (PART B: TVOS)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115568"/>
            <a:ext cx="5303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FFFFFF"/>
                </a:solidFill>
                <a:latin typeface="Rubik"/>
              </a:defRPr>
            </a:pPr>
            <a:r>
              <a:t>PartyPlay TV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2084831"/>
            <a:ext cx="5303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BA1A"/>
                </a:solidFill>
                <a:latin typeface="Rubik"/>
              </a:defRPr>
            </a:pPr>
            <a:r>
              <a:t>Your Living Room Game Show</a:t>
            </a:r>
          </a:p>
          <a:p>
            <a:pPr>
              <a:defRPr sz="1400">
                <a:solidFill>
                  <a:srgbClr val="C9CEEA"/>
                </a:solidFill>
                <a:latin typeface="Nunito Sans"/>
              </a:defRPr>
            </a:pPr>
            <a:r>
              <a:t>Native Apple tvOS Multiplayer Trivia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971800"/>
            <a:ext cx="5303520" cy="2148840"/>
          </a:xfrm>
          <a:prstGeom prst="roundRect">
            <a:avLst/>
          </a:prstGeom>
          <a:solidFill>
            <a:srgbClr val="161A2C"/>
          </a:solidFill>
          <a:ln w="12700">
            <a:solidFill>
              <a:srgbClr val="2E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49377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Nunito Sans"/>
              </a:rPr>
              <a:t>STUDENT NAME:  </a:t>
            </a:r>
            <a:r>
              <a:rPr sz="1150">
                <a:solidFill>
                  <a:srgbClr val="FFFFFF"/>
                </a:solidFill>
                <a:latin typeface="Nunito Sans"/>
              </a:rPr>
              <a:t>Jayasundara R.K.M.J.Y.
</a:t>
            </a:r>
          </a:p>
          <a:p>
            <a:r>
              <a:rPr sz="1100" b="1">
                <a:solidFill>
                  <a:srgbClr val="00E5FF"/>
                </a:solidFill>
                <a:latin typeface="Nunito Sans"/>
              </a:rPr>
              <a:t>STUDENT ID:  </a:t>
            </a:r>
            <a:r>
              <a:rPr sz="1150">
                <a:solidFill>
                  <a:srgbClr val="FFFFFF"/>
                </a:solidFill>
                <a:latin typeface="Nunito Sans"/>
              </a:rPr>
              <a:t>IT22136374
</a:t>
            </a:r>
          </a:p>
          <a:p>
            <a:r>
              <a:rPr sz="1100" b="1">
                <a:solidFill>
                  <a:srgbClr val="00E5FF"/>
                </a:solidFill>
                <a:latin typeface="Nunito Sans"/>
              </a:rPr>
              <a:t>MODULE:  </a:t>
            </a:r>
            <a:r>
              <a:rPr sz="1150">
                <a:solidFill>
                  <a:srgbClr val="FFFFFF"/>
                </a:solidFill>
                <a:latin typeface="Nunito Sans"/>
              </a:rPr>
              <a:t>SE4041 – Mobile Application Design &amp; Development
</a:t>
            </a:r>
          </a:p>
          <a:p>
            <a:r>
              <a:rPr sz="1100" b="1">
                <a:solidFill>
                  <a:srgbClr val="00E5FF"/>
                </a:solidFill>
                <a:latin typeface="Nunito Sans"/>
              </a:rPr>
              <a:t>DEGREE / FACULTY:  </a:t>
            </a:r>
            <a:r>
              <a:rPr sz="1150">
                <a:solidFill>
                  <a:srgbClr val="FFFFFF"/>
                </a:solidFill>
                <a:latin typeface="Nunito Sans"/>
              </a:rPr>
              <a:t>BSc (Hons) in Information Technology • SLIIT
</a:t>
            </a:r>
          </a:p>
          <a:p>
            <a:r>
              <a:rPr sz="1100" b="1">
                <a:solidFill>
                  <a:srgbClr val="00E5FF"/>
                </a:solidFill>
                <a:latin typeface="Nunito Sans"/>
              </a:rPr>
              <a:t>TECH STACK:  </a:t>
            </a:r>
            <a:r>
              <a:rPr sz="1150">
                <a:solidFill>
                  <a:srgbClr val="FFFFFF"/>
                </a:solidFill>
                <a:latin typeface="Nunito Sans"/>
              </a:rPr>
              <a:t>tvOS 17.2 SDK • Swift 5.9 • Apple TV 4K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5349240"/>
            <a:ext cx="1325880" cy="347472"/>
          </a:xfrm>
          <a:prstGeom prst="roundRect">
            <a:avLst/>
          </a:prstGeom>
          <a:solidFill>
            <a:srgbClr val="1C223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537667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unito Sans"/>
              </a:defRPr>
            </a:pPr>
            <a:r>
              <a:t>tvOS 17.2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6856" y="5349240"/>
            <a:ext cx="1508760" cy="347472"/>
          </a:xfrm>
          <a:prstGeom prst="roundRect">
            <a:avLst/>
          </a:prstGeom>
          <a:solidFill>
            <a:srgbClr val="1C223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6856" y="537667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unito Sans"/>
              </a:defRPr>
            </a:pPr>
            <a:r>
              <a:t>Focus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22775" y="5349240"/>
            <a:ext cx="1508760" cy="347472"/>
          </a:xfrm>
          <a:prstGeom prst="roundRect">
            <a:avLst/>
          </a:prstGeom>
          <a:solidFill>
            <a:srgbClr val="1C223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22775" y="537667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unito Sans"/>
              </a:defRPr>
            </a:pPr>
            <a:r>
              <a:t>CoreImage QR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" y="5779008"/>
            <a:ext cx="1691640" cy="347472"/>
          </a:xfrm>
          <a:prstGeom prst="roundRect">
            <a:avLst/>
          </a:prstGeom>
          <a:solidFill>
            <a:srgbClr val="1C2238"/>
          </a:solidFill>
          <a:ln w="12700">
            <a:solidFill>
              <a:srgbClr val="FFB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5806440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unito Sans"/>
              </a:defRPr>
            </a:pPr>
            <a:r>
              <a:t>100% Offline Demo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42616" y="5779008"/>
            <a:ext cx="1783080" cy="347472"/>
          </a:xfrm>
          <a:prstGeom prst="roundRect">
            <a:avLst/>
          </a:prstGeom>
          <a:solidFill>
            <a:srgbClr val="1C2238"/>
          </a:solidFill>
          <a:ln w="12700">
            <a:solidFill>
              <a:srgbClr val="FFB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42616" y="580644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unito Sans"/>
              </a:defRPr>
            </a:pPr>
            <a:r>
              <a:t>10/10 Tests Passed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777240"/>
            <a:ext cx="4882896" cy="534924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artyplay_hero_stage_17920841891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914400"/>
            <a:ext cx="4663440" cy="26028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01968" y="393192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A1A"/>
                </a:solidFill>
                <a:latin typeface="Rubik"/>
              </a:defRPr>
            </a:pPr>
            <a:r>
              <a:t>Living Room Broadcast Stage</a:t>
            </a:r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Transforms the Apple TV 4K into an interactive game show host. Controllable via the physical Siri Remote or companion mobile buzzers.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632764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D86A2"/>
                </a:solidFill>
                <a:latin typeface="Nunito Sans"/>
              </a:defRPr>
            </a:pPr>
            <a:r>
              <a:t>PartyPlay TV  •  SE4041 tvOS Project  •  Jayasundara R.K.M.J.Y. (IT22136374)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32764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Nunito Sans"/>
              </a:defRPr>
            </a:pPr>
            <a:r>
              <a:t>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Nunito San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777240"/>
            <a:ext cx="10561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Rubik"/>
              </a:defRPr>
            </a:pPr>
            <a:r>
              <a:t>The Living Room Entertainment Disconnect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298448"/>
            <a:ext cx="10561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C9CEEA"/>
                </a:solidFill>
                <a:latin typeface="Nunito Sans"/>
              </a:defRPr>
            </a:pPr>
            <a:r>
              <a:t>4K television screens are massive, yet shared living room play is missing.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1783080"/>
            <a:ext cx="3337560" cy="365760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FF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96596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84D"/>
                </a:solidFill>
                <a:latin typeface="Nunito Sans"/>
              </a:defRPr>
            </a:pPr>
            <a:r>
              <a:t>THE SCREEN</a:t>
            </a:r>
          </a:p>
          <a:p>
            <a:pPr>
              <a:defRPr sz="2200" b="1">
                <a:solidFill>
                  <a:srgbClr val="FFFFFF"/>
                </a:solidFill>
                <a:latin typeface="Rubik"/>
              </a:defRPr>
            </a:pPr>
            <a:r>
              <a:t>Passive Video</a:t>
            </a:r>
          </a:p>
          <a:p>
            <a:pPr>
              <a:defRPr sz="1300">
                <a:solidFill>
                  <a:srgbClr val="FFBA1A"/>
                </a:solidFill>
                <a:latin typeface="Nunito Sans"/>
              </a:defRPr>
            </a:pPr>
            <a:r>
              <a:t>4K TVs mostly play video</a:t>
            </a:r>
            <a:br/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• Families sit together but watch passively</a:t>
            </a:r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• The TV acts as a receiver, not a game host</a:t>
            </a:r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• Little content invites shared doing and play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62855" y="1783080"/>
            <a:ext cx="3337560" cy="365760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FFB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196596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A1A"/>
                </a:solidFill>
                <a:latin typeface="Nunito Sans"/>
              </a:defRPr>
            </a:pPr>
            <a:r>
              <a:t>THE HABIT</a:t>
            </a:r>
          </a:p>
          <a:p>
            <a:pPr>
              <a:defRPr sz="2200" b="1">
                <a:solidFill>
                  <a:srgbClr val="FFFFFF"/>
                </a:solidFill>
                <a:latin typeface="Rubik"/>
              </a:defRPr>
            </a:pPr>
            <a:r>
              <a:t>Small-Screen Silos</a:t>
            </a:r>
          </a:p>
          <a:p>
            <a:pPr>
              <a:defRPr sz="1300">
                <a:solidFill>
                  <a:srgbClr val="FFBA1A"/>
                </a:solidFill>
                <a:latin typeface="Nunito Sans"/>
              </a:defRPr>
            </a:pPr>
            <a:r>
              <a:t>Mobile trivia isolates players</a:t>
            </a:r>
            <a:br/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• Everyone looks down into personal phone screens</a:t>
            </a:r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• Kills the communal living-room atmosphere</a:t>
            </a:r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• Lacks the thrill of a shared game show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11896" y="1783080"/>
            <a:ext cx="3337560" cy="365760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94776" y="196596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Nunito Sans"/>
              </a:defRPr>
            </a:pPr>
            <a:r>
              <a:t>THE SETUP</a:t>
            </a:r>
          </a:p>
          <a:p>
            <a:pPr>
              <a:defRPr sz="2200" b="1">
                <a:solidFill>
                  <a:srgbClr val="FFFFFF"/>
                </a:solidFill>
                <a:latin typeface="Rubik"/>
              </a:defRPr>
            </a:pPr>
            <a:r>
              <a:t>Costly &amp; Complex</a:t>
            </a:r>
          </a:p>
          <a:p>
            <a:pPr>
              <a:defRPr sz="1300">
                <a:solidFill>
                  <a:srgbClr val="FFBA1A"/>
                </a:solidFill>
                <a:latin typeface="Nunito Sans"/>
              </a:defRPr>
            </a:pPr>
            <a:r>
              <a:t>Console party games have friction</a:t>
            </a:r>
            <a:br/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• Jackbox packs cost $30+ each</a:t>
            </a:r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• Requires multiple gamepads or cloud servers</a:t>
            </a:r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• No free, native offline Apple TV alternative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" y="5596128"/>
            <a:ext cx="10561320" cy="548640"/>
          </a:xfrm>
          <a:prstGeom prst="roundRect">
            <a:avLst/>
          </a:prstGeom>
          <a:solidFill>
            <a:srgbClr val="1C223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669280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Nunito Sans"/>
              </a:defRPr>
            </a:pPr>
            <a:r>
              <a:t>THE GAP: Turn the living room's centerpiece screen into an instant, social party game show.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632764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D86A2"/>
                </a:solidFill>
                <a:latin typeface="Nunito Sans"/>
              </a:defRPr>
            </a:pPr>
            <a:r>
              <a:t>PartyPlay TV  •  SE4041 tvOS Project  •  Jayasundara R.K.M.J.Y. (IT22136374)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32764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Nunito Sans"/>
              </a:defRPr>
            </a:pPr>
            <a:r>
              <a:t>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Nunito Sans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777240"/>
            <a:ext cx="10561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Rubik"/>
              </a:defRPr>
            </a:pPr>
            <a:r>
              <a:t>A Live Game Show on Your TV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298448"/>
            <a:ext cx="10561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C9CEEA"/>
                </a:solidFill>
                <a:latin typeface="Nunito Sans"/>
              </a:defRPr>
            </a:pPr>
            <a:r>
              <a:t>PartyPlay TV turns the Apple TV into an interactive game-show stage with zero setup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1783080"/>
            <a:ext cx="10561320" cy="777240"/>
          </a:xfrm>
          <a:prstGeom prst="roundRect">
            <a:avLst/>
          </a:prstGeom>
          <a:solidFill>
            <a:srgbClr val="1C2238"/>
          </a:solidFill>
          <a:ln w="19050">
            <a:solidFill>
              <a:srgbClr val="FFB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A1A"/>
                </a:solidFill>
                <a:latin typeface="Rubik"/>
              </a:defRPr>
            </a:pPr>
            <a:r>
              <a:t>THE MAIN IDEA: Turn the living-room TV into a broadcast game show you play with a remote.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2697480"/>
            <a:ext cx="5303520" cy="1051560"/>
          </a:xfrm>
          <a:prstGeom prst="roundRect">
            <a:avLst/>
          </a:prstGeom>
          <a:solidFill>
            <a:srgbClr val="161A2C"/>
          </a:solidFill>
          <a:ln w="12700">
            <a:solidFill>
              <a:srgbClr val="2E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0720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FF"/>
                </a:solidFill>
                <a:latin typeface="Rubik"/>
              </a:defRPr>
            </a:pPr>
            <a:r>
              <a:t>1. NATIVE 10-FOOT FOCUS UI</a:t>
            </a:r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Built for the couch with SwiftUI @FocusState, parallax card elevation (1.06x), and glowing cyan halos.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" y="3867912"/>
            <a:ext cx="5303520" cy="1051560"/>
          </a:xfrm>
          <a:prstGeom prst="roundRect">
            <a:avLst/>
          </a:prstGeom>
          <a:solidFill>
            <a:srgbClr val="161A2C"/>
          </a:solidFill>
          <a:ln w="12700">
            <a:solidFill>
              <a:srgbClr val="2E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7764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FF"/>
                </a:solidFill>
                <a:latin typeface="Rubik"/>
              </a:defRPr>
            </a:pPr>
            <a:r>
              <a:t>2. DUAL-MODE FLEXIBILITY</a:t>
            </a:r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100% offline with smart AI bots for solo demo play, plus instant CoreImage QR codes for phone buzzers.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" y="5038344"/>
            <a:ext cx="5303520" cy="1051560"/>
          </a:xfrm>
          <a:prstGeom prst="roundRect">
            <a:avLst/>
          </a:prstGeom>
          <a:solidFill>
            <a:srgbClr val="161A2C"/>
          </a:solidFill>
          <a:ln w="12700">
            <a:solidFill>
              <a:srgbClr val="2E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480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FF"/>
                </a:solidFill>
                <a:latin typeface="Rubik"/>
              </a:defRPr>
            </a:pPr>
            <a:r>
              <a:t>3. LIVE GAME ENGINE</a:t>
            </a:r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Real-time countdown ring, dynamic +50% speed bonuses, instant educational feedback, and podium rankings.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697480"/>
            <a:ext cx="4974336" cy="3401568"/>
          </a:xfrm>
          <a:prstGeom prst="roundRect">
            <a:avLst/>
          </a:prstGeom>
          <a:solidFill>
            <a:srgbClr val="1C223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834640"/>
            <a:ext cx="460857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Rubik"/>
              </a:defRPr>
            </a:pPr>
            <a:r>
              <a:t>SOLUTION ARCHITECTURE</a:t>
            </a:r>
          </a:p>
          <a:p>
            <a:pPr>
              <a:defRPr sz="1200" b="1">
                <a:solidFill>
                  <a:srgbClr val="7C4DFF"/>
                </a:solidFill>
                <a:latin typeface="Nunito Sans"/>
              </a:defRPr>
            </a:pPr>
            <a:r>
              <a:t>▶ HOST SCREEN (Apple TV 4K)</a:t>
            </a:r>
          </a:p>
          <a:p>
            <a:pPr>
              <a:defRPr sz="1150">
                <a:solidFill>
                  <a:srgbClr val="C9CEEA"/>
                </a:solidFill>
                <a:latin typeface="Nunito Sans"/>
              </a:defRPr>
            </a:pPr>
            <a:r>
              <a:t>   Broadcasts questions, circular timer &amp; podium</a:t>
            </a:r>
            <a:br/>
          </a:p>
          <a:p>
            <a:pPr>
              <a:defRPr sz="1200" b="1">
                <a:solidFill>
                  <a:srgbClr val="00E5FF"/>
                </a:solidFill>
                <a:latin typeface="Nunito Sans"/>
              </a:defRPr>
            </a:pPr>
            <a:r>
              <a:t>▶ INTERACTION MODES</a:t>
            </a:r>
          </a:p>
          <a:p>
            <a:pPr>
              <a:defRPr sz="1150">
                <a:solidFill>
                  <a:srgbClr val="C9CEEA"/>
                </a:solidFill>
                <a:latin typeface="Nunito Sans"/>
              </a:defRPr>
            </a:pPr>
            <a:r>
              <a:t>   Siri Remote Focus Engine  •  CoreImage QR Handshake</a:t>
            </a:r>
            <a:br/>
          </a:p>
          <a:p>
            <a:pPr>
              <a:defRPr sz="1200" b="1">
                <a:solidFill>
                  <a:srgbClr val="FFBA1A"/>
                </a:solidFill>
                <a:latin typeface="Nunito Sans"/>
              </a:defRPr>
            </a:pPr>
            <a:r>
              <a:t>▶ CONTESTANT ROSTER</a:t>
            </a:r>
          </a:p>
          <a:p>
            <a:pPr>
              <a:defRPr sz="1150">
                <a:solidFill>
                  <a:srgbClr val="C9CEEA"/>
                </a:solidFill>
                <a:latin typeface="Nunito Sans"/>
              </a:defRPr>
            </a:pPr>
            <a:r>
              <a:t>   Solo Remote Host  •  Simulated AI Bots  •  Phone Buzzers</a:t>
            </a:r>
            <a:br/>
          </a:p>
          <a:p>
            <a:pPr>
              <a:defRPr sz="1200" b="1">
                <a:solidFill>
                  <a:srgbClr val="00D973"/>
                </a:solidFill>
                <a:latin typeface="Nunito Sans"/>
              </a:defRPr>
            </a:pPr>
            <a:r>
              <a:t>▶ SWIFT MVVM CORE</a:t>
            </a:r>
          </a:p>
          <a:p>
            <a:pPr>
              <a:defRPr sz="1150">
                <a:solidFill>
                  <a:srgbClr val="C9CEEA"/>
                </a:solidFill>
                <a:latin typeface="Nunito Sans"/>
              </a:defRPr>
            </a:pPr>
            <a:r>
              <a:t>   GameEngine (Timer/State)  •  ScoreService (Bonuses)</a:t>
            </a:r>
            <a:br/>
          </a:p>
        </p:txBody>
      </p:sp>
      <p:sp>
        <p:nvSpPr>
          <p:cNvPr id="16" name="TextBox 15"/>
          <p:cNvSpPr txBox="1"/>
          <p:nvPr/>
        </p:nvSpPr>
        <p:spPr>
          <a:xfrm>
            <a:off x="813816" y="632764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D86A2"/>
                </a:solidFill>
                <a:latin typeface="Nunito Sans"/>
              </a:defRPr>
            </a:pPr>
            <a:r>
              <a:t>PartyPlay TV  •  SE4041 tvOS Project  •  Jayasundara R.K.M.J.Y. (IT22136374)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2764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Nunito Sans"/>
              </a:defRPr>
            </a:pPr>
            <a:r>
              <a:t>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Nunito Sans"/>
              </a:defRPr>
            </a:pPr>
            <a:r>
              <a:t>VALUE PROPOSITION &amp;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777240"/>
            <a:ext cx="10561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Rubik"/>
              </a:defRPr>
            </a:pPr>
            <a:r>
              <a:t>Fast Setup, Fierce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298448"/>
            <a:ext cx="10561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C9CEEA"/>
                </a:solidFill>
                <a:latin typeface="Nunito Sans"/>
              </a:defRPr>
            </a:pPr>
            <a:r>
              <a:t>Instant couch entertainment designed for players of all 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1783080"/>
            <a:ext cx="2468880" cy="434340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965960"/>
            <a:ext cx="2139696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Nunito Sans"/>
              </a:defRPr>
            </a:pPr>
            <a:r>
              <a:t>10-FOOT DESIGN</a:t>
            </a:r>
          </a:p>
          <a:p>
            <a:pPr>
              <a:defRPr sz="1900" b="1">
                <a:solidFill>
                  <a:srgbClr val="FFFFFF"/>
                </a:solidFill>
                <a:latin typeface="Rubik"/>
              </a:defRPr>
            </a:pPr>
            <a:r>
              <a:t>Siri Remote First</a:t>
            </a:r>
            <a:br/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• Parallax card lift (1.06x)</a:t>
            </a:r>
            <a:br/>
            <a:r>
              <a:t>• Glowing cyan focus halos</a:t>
            </a:r>
            <a:br/>
            <a:r>
              <a:t>• Readable from 3+ meters</a:t>
            </a:r>
            <a:br/>
            <a:r>
              <a:t>• Tactile sound feedback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11296" y="1783080"/>
            <a:ext cx="2468880" cy="434340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FFB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" y="1965960"/>
            <a:ext cx="2139696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A1A"/>
                </a:solidFill>
                <a:latin typeface="Nunito Sans"/>
              </a:defRPr>
            </a:pPr>
            <a:r>
              <a:t>CURATED TRIVIA</a:t>
            </a:r>
          </a:p>
          <a:p>
            <a:pPr>
              <a:defRPr sz="1900" b="1">
                <a:solidFill>
                  <a:srgbClr val="FFFFFF"/>
                </a:solidFill>
                <a:latin typeface="Rubik"/>
              </a:defRPr>
            </a:pPr>
            <a:r>
              <a:t>6 Categories</a:t>
            </a:r>
            <a:br/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• 42 verified questions</a:t>
            </a:r>
            <a:br/>
            <a:r>
              <a:t>• Science, Gaming, Movies</a:t>
            </a:r>
            <a:br/>
            <a:r>
              <a:t>• Sri Lanka Quiz heritage</a:t>
            </a:r>
            <a:br/>
            <a:r>
              <a:t>• Easy, Medium, Hard tiers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783080"/>
            <a:ext cx="2468880" cy="434340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965960"/>
            <a:ext cx="2139696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4DFF"/>
                </a:solidFill>
                <a:latin typeface="Nunito Sans"/>
              </a:defRPr>
            </a:pPr>
            <a:r>
              <a:t>REACTIVE ENGINE</a:t>
            </a:r>
          </a:p>
          <a:p>
            <a:pPr>
              <a:defRPr sz="1900" b="1">
                <a:solidFill>
                  <a:srgbClr val="FFFFFF"/>
                </a:solidFill>
                <a:latin typeface="Rubik"/>
              </a:defRPr>
            </a:pPr>
            <a:r>
              <a:t>Dynamic Scoring</a:t>
            </a:r>
            <a:br/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• Circular countdown ring</a:t>
            </a:r>
            <a:br/>
            <a:r>
              <a:t>• Up to +50% speed bonus</a:t>
            </a:r>
            <a:br/>
            <a:r>
              <a:t>• Anti-spam submission lock</a:t>
            </a:r>
            <a:br/>
            <a:r>
              <a:t>• Tie-breaker rank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783080"/>
            <a:ext cx="2468880" cy="434340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00D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965960"/>
            <a:ext cx="2139696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73"/>
                </a:solidFill>
                <a:latin typeface="Nunito Sans"/>
              </a:defRPr>
            </a:pPr>
            <a:r>
              <a:t>ZERO FRICTION</a:t>
            </a:r>
          </a:p>
          <a:p>
            <a:pPr>
              <a:defRPr sz="1900" b="1">
                <a:solidFill>
                  <a:srgbClr val="FFFFFF"/>
                </a:solidFill>
                <a:latin typeface="Rubik"/>
              </a:defRPr>
            </a:pPr>
            <a:r>
              <a:t>100% Offline Ready</a:t>
            </a:r>
            <a:br/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• Works with zero internet</a:t>
            </a:r>
            <a:br/>
            <a:r>
              <a:t>• Simulated AI bots included</a:t>
            </a:r>
            <a:br/>
            <a:r>
              <a:t>• Native CoreImage QR codes</a:t>
            </a:r>
            <a:br/>
            <a:r>
              <a:t>• Zero accounts, zero 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632764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D86A2"/>
                </a:solidFill>
                <a:latin typeface="Nunito Sans"/>
              </a:defRPr>
            </a:pPr>
            <a:r>
              <a:t>PartyPlay TV  •  SE4041 tvOS Project  •  Jayasundara R.K.M.J.Y. (IT22136374)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32764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Nunito Sans"/>
              </a:defRPr>
            </a:pPr>
            <a:r>
              <a:t>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Nunito Sans"/>
              </a:defRPr>
            </a:pPr>
            <a:r>
              <a:t>APPLICATION OVERVIEW &amp; 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777240"/>
            <a:ext cx="10561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Rubik"/>
              </a:defRPr>
            </a:pPr>
            <a:r>
              <a:t>One Clean Path Through 6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298448"/>
            <a:ext cx="10561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C9CEEA"/>
                </a:solidFill>
                <a:latin typeface="Nunito Sans"/>
              </a:defRPr>
            </a:pPr>
            <a:r>
              <a:t>A smooth linear journey powered by SwiftUI NavigationStack and AppRoute routing.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1874519"/>
            <a:ext cx="1609344" cy="242316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993392"/>
            <a:ext cx="138988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Nunito Sans"/>
              </a:defRPr>
            </a:pPr>
            <a:r>
              <a:t>STAGE 1</a:t>
            </a:r>
          </a:p>
          <a:p>
            <a:pPr>
              <a:defRPr sz="1600" b="1">
                <a:solidFill>
                  <a:srgbClr val="FFFFFF"/>
                </a:solidFill>
                <a:latin typeface="Rubik"/>
              </a:defRPr>
            </a:pPr>
            <a:r>
              <a:t>Home</a:t>
            </a:r>
          </a:p>
          <a:p>
            <a:pPr>
              <a:defRPr sz="1100">
                <a:solidFill>
                  <a:srgbClr val="C9CEEA"/>
                </a:solidFill>
                <a:latin typeface="Nunito Sans"/>
              </a:defRPr>
            </a:pPr>
            <a:r>
              <a:t>Hero branding, Play Now &amp; recent match summary.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83464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874519"/>
            <a:ext cx="1609344" cy="242316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FFB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1993392"/>
            <a:ext cx="138988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BA1A"/>
                </a:solidFill>
                <a:latin typeface="Nunito Sans"/>
              </a:defRPr>
            </a:pPr>
            <a:r>
              <a:t>STAGE 2</a:t>
            </a:r>
          </a:p>
          <a:p>
            <a:pPr>
              <a:defRPr sz="1600" b="1">
                <a:solidFill>
                  <a:srgbClr val="FFFFFF"/>
                </a:solidFill>
                <a:latin typeface="Rubik"/>
              </a:defRPr>
            </a:pPr>
            <a:r>
              <a:t>Categories</a:t>
            </a:r>
          </a:p>
          <a:p>
            <a:pPr>
              <a:defRPr sz="1100">
                <a:solidFill>
                  <a:srgbClr val="C9CEEA"/>
                </a:solidFill>
                <a:latin typeface="Nunito Sans"/>
              </a:defRPr>
            </a:pPr>
            <a:r>
              <a:t>6 trivia themes with custom palettes &amp; difficulty tags.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5384" y="283464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874519"/>
            <a:ext cx="1609344" cy="242316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993392"/>
            <a:ext cx="138988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4DFF"/>
                </a:solidFill>
                <a:latin typeface="Nunito Sans"/>
              </a:defRPr>
            </a:pPr>
            <a:r>
              <a:t>STAGE 3</a:t>
            </a:r>
          </a:p>
          <a:p>
            <a:pPr>
              <a:defRPr sz="1600" b="1">
                <a:solidFill>
                  <a:srgbClr val="FFFFFF"/>
                </a:solidFill>
                <a:latin typeface="Rubik"/>
              </a:defRPr>
            </a:pPr>
            <a:r>
              <a:t>Setup</a:t>
            </a:r>
          </a:p>
          <a:p>
            <a:pPr>
              <a:defRPr sz="1100">
                <a:solidFill>
                  <a:srgbClr val="C9CEEA"/>
                </a:solidFill>
                <a:latin typeface="Nunito Sans"/>
              </a:defRPr>
            </a:pPr>
            <a:r>
              <a:t>Select timer (10-20s), question count &amp; tier.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7608" y="283464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874519"/>
            <a:ext cx="1609344" cy="242316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00D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993392"/>
            <a:ext cx="138988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973"/>
                </a:solidFill>
                <a:latin typeface="Nunito Sans"/>
              </a:defRPr>
            </a:pPr>
            <a:r>
              <a:t>STAGE 4</a:t>
            </a:r>
          </a:p>
          <a:p>
            <a:pPr>
              <a:defRPr sz="1600" b="1">
                <a:solidFill>
                  <a:srgbClr val="FFFFFF"/>
                </a:solidFill>
                <a:latin typeface="Rubik"/>
              </a:defRPr>
            </a:pPr>
            <a:r>
              <a:t>Lobby</a:t>
            </a:r>
          </a:p>
          <a:p>
            <a:pPr>
              <a:defRPr sz="1100">
                <a:solidFill>
                  <a:srgbClr val="C9CEEA"/>
                </a:solidFill>
                <a:latin typeface="Nunito Sans"/>
              </a:defRPr>
            </a:pPr>
            <a:r>
              <a:t>Room code PLAY88, QR code &amp; AI bot roster.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2" y="283464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82712" y="1874519"/>
            <a:ext cx="1609344" cy="242316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FF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993392"/>
            <a:ext cx="138988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384D"/>
                </a:solidFill>
                <a:latin typeface="Nunito Sans"/>
              </a:defRPr>
            </a:pPr>
            <a:r>
              <a:t>STAGE 5</a:t>
            </a:r>
          </a:p>
          <a:p>
            <a:pPr>
              <a:defRPr sz="1600" b="1">
                <a:solidFill>
                  <a:srgbClr val="FFFFFF"/>
                </a:solidFill>
                <a:latin typeface="Rubik"/>
              </a:defRPr>
            </a:pPr>
            <a:r>
              <a:t>Quiz Arena</a:t>
            </a:r>
          </a:p>
          <a:p>
            <a:pPr>
              <a:defRPr sz="1100">
                <a:solidFill>
                  <a:srgbClr val="C9CEEA"/>
                </a:solidFill>
                <a:latin typeface="Nunito Sans"/>
              </a:defRPr>
            </a:pPr>
            <a:r>
              <a:t>Countdown ring, 2x2 answers &amp; instant reveal.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2056" y="283464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74936" y="1874519"/>
            <a:ext cx="1609344" cy="242316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FFB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84664" y="1993392"/>
            <a:ext cx="138988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BA1A"/>
                </a:solidFill>
                <a:latin typeface="Nunito Sans"/>
              </a:defRPr>
            </a:pPr>
            <a:r>
              <a:t>STAGE 6</a:t>
            </a:r>
          </a:p>
          <a:p>
            <a:pPr>
              <a:defRPr sz="1600" b="1">
                <a:solidFill>
                  <a:srgbClr val="FFFFFF"/>
                </a:solidFill>
                <a:latin typeface="Rubik"/>
              </a:defRPr>
            </a:pPr>
            <a:r>
              <a:t>Podium</a:t>
            </a:r>
          </a:p>
          <a:p>
            <a:pPr>
              <a:defRPr sz="1100">
                <a:solidFill>
                  <a:srgbClr val="C9CEEA"/>
                </a:solidFill>
                <a:latin typeface="Nunito Sans"/>
              </a:defRPr>
            </a:pPr>
            <a:r>
              <a:t>Gold/Silver/Bronze pedestals &amp; rankings table.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" y="4526280"/>
            <a:ext cx="10561320" cy="1600200"/>
          </a:xfrm>
          <a:prstGeom prst="roundRect">
            <a:avLst/>
          </a:prstGeom>
          <a:solidFill>
            <a:srgbClr val="1C2238"/>
          </a:solidFill>
          <a:ln w="12700">
            <a:solidFill>
              <a:srgbClr val="2E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663440"/>
            <a:ext cx="10058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FF"/>
                </a:solidFill>
                <a:latin typeface="Rubik"/>
              </a:defRPr>
            </a:pPr>
            <a:r>
              <a:t>SIRI REMOTE CONTROL GESTURES</a:t>
            </a:r>
          </a:p>
          <a:p>
            <a:r>
              <a:rPr sz="1200" b="1">
                <a:solidFill>
                  <a:srgbClr val="FFFFFF"/>
                </a:solidFill>
                <a:latin typeface="Nunito Sans"/>
              </a:rPr>
              <a:t>• Touchpad Swipe: </a:t>
            </a:r>
            <a:r>
              <a:rPr sz="1150">
                <a:solidFill>
                  <a:srgbClr val="C9CEEA"/>
                </a:solidFill>
                <a:latin typeface="Nunito Sans"/>
              </a:rPr>
              <a:t>Glide focus between category cards and answer choices with native spring physics.</a:t>
            </a:r>
          </a:p>
          <a:p>
            <a:r>
              <a:rPr sz="1200" b="1">
                <a:solidFill>
                  <a:srgbClr val="FFFFFF"/>
                </a:solidFill>
                <a:latin typeface="Nunito Sans"/>
              </a:rPr>
              <a:t>• Clickpad Select: </a:t>
            </a:r>
            <a:r>
              <a:rPr sz="1150">
                <a:solidFill>
                  <a:srgbClr val="C9CEEA"/>
                </a:solidFill>
                <a:latin typeface="Nunito Sans"/>
              </a:rPr>
              <a:t>Confirm selection, submit answer choice, and advance questions.</a:t>
            </a:r>
          </a:p>
          <a:p>
            <a:r>
              <a:rPr sz="1200" b="1">
                <a:solidFill>
                  <a:srgbClr val="FFFFFF"/>
                </a:solidFill>
                <a:latin typeface="Nunito Sans"/>
              </a:rPr>
              <a:t>• Menu / Back Button: </a:t>
            </a:r>
            <a:r>
              <a:rPr sz="1150">
                <a:solidFill>
                  <a:srgbClr val="C9CEEA"/>
                </a:solidFill>
                <a:latin typeface="Nunito Sans"/>
              </a:rPr>
              <a:t>Pop cleanly back up the navigation stack without losing game session state.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632764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D86A2"/>
                </a:solidFill>
                <a:latin typeface="Nunito Sans"/>
              </a:defRPr>
            </a:pPr>
            <a:r>
              <a:t>PartyPlay TV  •  SE4041 tvOS Project  •  Jayasundara R.K.M.J.Y. (IT22136374)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32764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Nunito Sans"/>
              </a:defRPr>
            </a:pPr>
            <a:r>
              <a:t>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Nunito Sans"/>
              </a:defRPr>
            </a:pPr>
            <a:r>
              <a:t>FEATURE SHOWCASE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777240"/>
            <a:ext cx="10561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Rubik"/>
              </a:defRPr>
            </a:pPr>
            <a:r>
              <a:t>10-Foot Design &amp; Siri Remote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298448"/>
            <a:ext cx="10561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C9CEEA"/>
                </a:solidFill>
                <a:latin typeface="Nunito Sans"/>
              </a:defRPr>
            </a:pPr>
            <a:r>
              <a:t>Television-calibrated layout, parallax card scaling, and tactile focus states.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1783080"/>
            <a:ext cx="4846320" cy="434340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4805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Rubik"/>
              </a:defRPr>
            </a:pPr>
            <a:r>
              <a:t>FOCUS ENGINE ARCHITECTURE</a:t>
            </a:r>
          </a:p>
          <a:p>
            <a:r>
              <a:rPr sz="1250" b="1">
                <a:solidFill>
                  <a:srgbClr val="FFBA1A"/>
                </a:solidFill>
                <a:latin typeface="Nunito Sans"/>
              </a:rPr>
              <a:t>
▶ Apple tvOS HIG Standard
</a:t>
            </a:r>
            <a:r>
              <a:rPr sz="1150">
                <a:solidFill>
                  <a:srgbClr val="C9CEEA"/>
                </a:solidFill>
                <a:latin typeface="Nunito Sans"/>
              </a:rPr>
              <a:t>90pt TV-safe margins with distance typography readable from 3+ meters away.</a:t>
            </a:r>
          </a:p>
          <a:p>
            <a:r>
              <a:rPr sz="1250" b="1">
                <a:solidFill>
                  <a:srgbClr val="FFBA1A"/>
                </a:solidFill>
                <a:latin typeface="Nunito Sans"/>
              </a:rPr>
              <a:t>
▶ @FocusState Management
</a:t>
            </a:r>
            <a:r>
              <a:rPr sz="1150">
                <a:solidFill>
                  <a:srgbClr val="C9CEEA"/>
                </a:solidFill>
                <a:latin typeface="Nunito Sans"/>
              </a:rPr>
              <a:t>Pure SwiftUI focus orchestration without mouse pointers or touchscreens.</a:t>
            </a:r>
          </a:p>
          <a:p>
            <a:r>
              <a:rPr sz="1250" b="1">
                <a:solidFill>
                  <a:srgbClr val="FFBA1A"/>
                </a:solidFill>
                <a:latin typeface="Nunito Sans"/>
              </a:rPr>
              <a:t>
▶ Parallax Card Elevation
</a:t>
            </a:r>
            <a:r>
              <a:rPr sz="1150">
                <a:solidFill>
                  <a:srgbClr val="C9CEEA"/>
                </a:solidFill>
                <a:latin typeface="Nunito Sans"/>
              </a:rPr>
              <a:t>Focused cards lift 1.06x with a bright cyan glowing border (#00E5FF).</a:t>
            </a:r>
          </a:p>
          <a:p>
            <a:r>
              <a:rPr sz="1250" b="1">
                <a:solidFill>
                  <a:srgbClr val="FFBA1A"/>
                </a:solidFill>
                <a:latin typeface="Nunito Sans"/>
              </a:rPr>
              <a:t>
▶ Sri Lanka Quiz Spotlight
</a:t>
            </a:r>
            <a:r>
              <a:rPr sz="1150">
                <a:solidFill>
                  <a:srgbClr val="C9CEEA"/>
                </a:solidFill>
                <a:latin typeface="Nunito Sans"/>
              </a:rPr>
              <a:t>Dedicated category featuring verified national history, geography, and sports.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88736" y="1783080"/>
            <a:ext cx="5486400" cy="4343400"/>
          </a:xfrm>
          <a:prstGeom prst="roundRect">
            <a:avLst/>
          </a:prstGeom>
          <a:solidFill>
            <a:srgbClr val="1C2238"/>
          </a:solidFill>
          <a:ln w="12700">
            <a:solidFill>
              <a:srgbClr val="2E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_home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176" y="1920240"/>
            <a:ext cx="5303520" cy="29832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80176" y="502920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Nunito Sans"/>
              </a:defRPr>
            </a:pPr>
            <a:r>
              <a:t>ACTUAL APP SCREENSHOT: HOME &amp; CATEGORY SELECTION</a:t>
            </a:r>
          </a:p>
          <a:p>
            <a:pPr>
              <a:defRPr sz="1100">
                <a:solidFill>
                  <a:srgbClr val="C9CEEA"/>
                </a:solidFill>
                <a:latin typeface="Nunito Sans"/>
              </a:defRPr>
            </a:pPr>
            <a:r>
              <a:t>Focused card lifts with parallax scale and cyan neon glow.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632764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D86A2"/>
                </a:solidFill>
                <a:latin typeface="Nunito Sans"/>
              </a:defRPr>
            </a:pPr>
            <a:r>
              <a:t>PartyPlay TV  •  SE4041 tvOS Project  •  Jayasundara R.K.M.J.Y. (IT22136374)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32764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Nunito Sans"/>
              </a:defRPr>
            </a:pPr>
            <a:r>
              <a:t>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Nunito Sans"/>
              </a:defRPr>
            </a:pPr>
            <a:r>
              <a:t>FEATURE SHOWCASE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777240"/>
            <a:ext cx="10561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Rubik"/>
              </a:defRPr>
            </a:pPr>
            <a:r>
              <a:t>Real-Time Timer &amp; Speed-Bonus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298448"/>
            <a:ext cx="10561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C9CEEA"/>
                </a:solidFill>
                <a:latin typeface="Nunito Sans"/>
              </a:defRPr>
            </a:pPr>
            <a:r>
              <a:t>Broadcast question arena with synchronized countdown, speed bonuses, and educational feedback.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1783080"/>
            <a:ext cx="5486400" cy="4343400"/>
          </a:xfrm>
          <a:prstGeom prst="roundRect">
            <a:avLst/>
          </a:prstGeom>
          <a:solidFill>
            <a:srgbClr val="1C2238"/>
          </a:solidFill>
          <a:ln w="12700">
            <a:solidFill>
              <a:srgbClr val="2E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_gameplay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920240"/>
            <a:ext cx="5303520" cy="29832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5256" y="502920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Nunito Sans"/>
              </a:defRPr>
            </a:pPr>
            <a:r>
              <a:t>ACTUAL APP SCREENSHOT: QUIZ GAMEPLAY ARENA</a:t>
            </a:r>
          </a:p>
          <a:p>
            <a:pPr>
              <a:defRPr sz="1100">
                <a:solidFill>
                  <a:srgbClr val="C9CEEA"/>
                </a:solidFill>
                <a:latin typeface="Nunito Sans"/>
              </a:defRPr>
            </a:pPr>
            <a:r>
              <a:t>Answered in 3.6s: Option A locked in green with +65 pt speed bonus.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28816" y="1783080"/>
            <a:ext cx="4846320" cy="434340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FFB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965960"/>
            <a:ext cx="44805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A1A"/>
                </a:solidFill>
                <a:latin typeface="Rubik"/>
              </a:defRPr>
            </a:pPr>
            <a:r>
              <a:t>SCORING &amp; FEEDBACK MECHANICS</a:t>
            </a:r>
          </a:p>
          <a:p>
            <a:r>
              <a:rPr sz="1250" b="1">
                <a:solidFill>
                  <a:srgbClr val="00E5FF"/>
                </a:solidFill>
                <a:latin typeface="Nunito Sans"/>
              </a:rPr>
              <a:t>
▶ Synchronized Countdown Ring
</a:t>
            </a:r>
            <a:r>
              <a:rPr sz="1150">
                <a:solidFill>
                  <a:srgbClr val="C9CEEA"/>
                </a:solidFill>
                <a:latin typeface="Nunito Sans"/>
              </a:rPr>
              <a:t>Color shifts Cyan (&gt;50%) ➔ Amber (&gt;20%) ➔ Red (&lt;20%).</a:t>
            </a:r>
          </a:p>
          <a:p>
            <a:r>
              <a:rPr sz="1250" b="1">
                <a:solidFill>
                  <a:srgbClr val="00E5FF"/>
                </a:solidFill>
                <a:latin typeface="Nunito Sans"/>
              </a:rPr>
              <a:t>
▶ Speed-Bonus Algorithm
</a:t>
            </a:r>
            <a:r>
              <a:rPr sz="1150">
                <a:solidFill>
                  <a:srgbClr val="C9CEEA"/>
                </a:solidFill>
                <a:latin typeface="Nunito Sans"/>
              </a:rPr>
              <a:t>Formula: Score = Base + (Base * 0.5 * TimeLeft / TotalTime).</a:t>
            </a:r>
          </a:p>
          <a:p>
            <a:r>
              <a:rPr sz="1250" b="1">
                <a:solidFill>
                  <a:srgbClr val="00E5FF"/>
                </a:solidFill>
                <a:latin typeface="Nunito Sans"/>
              </a:rPr>
              <a:t>
▶ Anti-Spam Input Lock
</a:t>
            </a:r>
            <a:r>
              <a:rPr sz="1150">
                <a:solidFill>
                  <a:srgbClr val="C9CEEA"/>
                </a:solidFill>
                <a:latin typeface="Nunito Sans"/>
              </a:rPr>
              <a:t>State machine locks on initial click to prevent double submissions.</a:t>
            </a:r>
          </a:p>
          <a:p>
            <a:r>
              <a:rPr sz="1250" b="1">
                <a:solidFill>
                  <a:srgbClr val="00E5FF"/>
                </a:solidFill>
                <a:latin typeface="Nunito Sans"/>
              </a:rPr>
              <a:t>
▶ Instant Educational Reveal
</a:t>
            </a:r>
            <a:r>
              <a:rPr sz="1150">
                <a:solidFill>
                  <a:srgbClr val="C9CEEA"/>
                </a:solidFill>
                <a:latin typeface="Nunito Sans"/>
              </a:rPr>
              <a:t>Displays verified historical context and auto-focuses 'Next Question'.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632764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D86A2"/>
                </a:solidFill>
                <a:latin typeface="Nunito Sans"/>
              </a:defRPr>
            </a:pPr>
            <a:r>
              <a:t>PartyPlay TV  •  SE4041 tvOS Project  •  Jayasundara R.K.M.J.Y. (IT22136374)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32764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Nunito Sans"/>
              </a:defRPr>
            </a:pPr>
            <a:r>
              <a:t>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Nunito Sans"/>
              </a:defRPr>
            </a:pPr>
            <a:r>
              <a:t>FEATURE SHOWCASE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777240"/>
            <a:ext cx="10561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Rubik"/>
              </a:defRPr>
            </a:pPr>
            <a:r>
              <a:t>Simulated Bot Lobby &amp; Winner Podium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298448"/>
            <a:ext cx="10561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C9CEEA"/>
                </a:solidFill>
                <a:latin typeface="Nunito Sans"/>
              </a:defRPr>
            </a:pPr>
            <a:r>
              <a:t>Dual-mode multiplayer with native CoreImage QR pairing and deterministic podium rankings.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1783080"/>
            <a:ext cx="5120640" cy="434340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_lobby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920240"/>
            <a:ext cx="4846320" cy="27260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0976" y="47548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FF"/>
                </a:solidFill>
                <a:latin typeface="Rubik"/>
              </a:defRPr>
            </a:pPr>
            <a:r>
              <a:t>COREIMAGE QR &amp; OFFLINE BOTS</a:t>
            </a:r>
          </a:p>
          <a:p>
            <a:pPr>
              <a:defRPr sz="1150">
                <a:solidFill>
                  <a:srgbClr val="C9CEEA"/>
                </a:solidFill>
                <a:latin typeface="Nunito Sans"/>
              </a:defRPr>
            </a:pPr>
            <a:r>
              <a:t>• Native CoreImage QR: Encodes companion URLs without external libraries.</a:t>
            </a:r>
            <a:br/>
            <a:r>
              <a:t>• Simulated AI Bots: Bots simulate human response delays (2–15s) for instant offline play.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783080"/>
            <a:ext cx="5120640" cy="434340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FFB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_leaderboard_pod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920240"/>
            <a:ext cx="4846320" cy="27260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91656" y="47548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A1A"/>
                </a:solidFill>
                <a:latin typeface="Rubik"/>
              </a:defRPr>
            </a:pPr>
            <a:r>
              <a:t>CHAMPION PODIUM CELEBRATION</a:t>
            </a:r>
          </a:p>
          <a:p>
            <a:pPr>
              <a:defRPr sz="1150">
                <a:solidFill>
                  <a:srgbClr val="C9CEEA"/>
                </a:solidFill>
                <a:latin typeface="Nunito Sans"/>
              </a:defRPr>
            </a:pPr>
            <a:r>
              <a:t>• 3D-Style Podium: Gold (#1, 250pt), Silver (#2, 190pt), Bronze (#3, 150pt).</a:t>
            </a:r>
            <a:br/>
            <a:r>
              <a:t>• Deterministic Tie-Break: Score ➔ Correct Count ➔ Accuracy %.</a:t>
            </a:r>
            <a:br/>
            <a:r>
              <a:t>• JSON Storage: Archives match history to Application Support.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632764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D86A2"/>
                </a:solidFill>
                <a:latin typeface="Nunito Sans"/>
              </a:defRPr>
            </a:pPr>
            <a:r>
              <a:t>PartyPlay TV  •  SE4041 tvOS Project  •  Jayasundara R.K.M.J.Y. (IT22136374)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2764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Nunito Sans"/>
              </a:defRPr>
            </a:pPr>
            <a:r>
              <a:t>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Nunito Sans"/>
              </a:defRPr>
            </a:pPr>
            <a:r>
              <a:t>TARGET AUDIENCE &amp;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777240"/>
            <a:ext cx="10561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Rubik"/>
              </a:defRPr>
            </a:pPr>
            <a:r>
              <a:t>Capturing the Shared Living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298448"/>
            <a:ext cx="10561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C9CEEA"/>
                </a:solidFill>
                <a:latin typeface="Nunito Sans"/>
              </a:defRPr>
            </a:pPr>
            <a:r>
              <a:t>Targeting multi-generational families, university social groups, and smart classrooms.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1783080"/>
            <a:ext cx="3337560" cy="310896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965960"/>
            <a:ext cx="3008376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Nunito Sans"/>
              </a:defRPr>
            </a:pPr>
            <a:r>
              <a:t>PRIMARY TARGET</a:t>
            </a:r>
          </a:p>
          <a:p>
            <a:pPr>
              <a:defRPr sz="2000" b="1">
                <a:solidFill>
                  <a:srgbClr val="FFFFFF"/>
                </a:solidFill>
                <a:latin typeface="Rubik"/>
              </a:defRPr>
            </a:pPr>
            <a:r>
              <a:t>Families</a:t>
            </a:r>
          </a:p>
          <a:p>
            <a:pPr>
              <a:defRPr sz="1200">
                <a:solidFill>
                  <a:srgbClr val="FFBA1A"/>
                </a:solidFill>
                <a:latin typeface="Nunito Sans"/>
              </a:defRPr>
            </a:pPr>
            <a:r>
              <a:t>Wholesome shared screen time</a:t>
            </a:r>
            <a:br/>
          </a:p>
          <a:p>
            <a:pPr>
              <a:defRPr sz="1150">
                <a:solidFill>
                  <a:srgbClr val="C9CEEA"/>
                </a:solidFill>
                <a:latin typeface="Nunito Sans"/>
              </a:defRPr>
            </a:pPr>
            <a:r>
              <a:t>• Grandparents &amp; kids play together</a:t>
            </a:r>
          </a:p>
          <a:p>
            <a:pPr>
              <a:defRPr sz="1150">
                <a:solidFill>
                  <a:srgbClr val="C9CEEA"/>
                </a:solidFill>
                <a:latin typeface="Nunito Sans"/>
              </a:defRPr>
            </a:pPr>
            <a:r>
              <a:t>• Safe, educational heritage trivia</a:t>
            </a:r>
          </a:p>
          <a:p>
            <a:pPr>
              <a:defRPr sz="1150">
                <a:solidFill>
                  <a:srgbClr val="C9CEEA"/>
                </a:solidFill>
                <a:latin typeface="Nunito Sans"/>
              </a:defRPr>
            </a:pPr>
            <a:r>
              <a:t>• Replaces silent phone scrolling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62855" y="1783080"/>
            <a:ext cx="3337560" cy="310896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FFB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7" y="1965960"/>
            <a:ext cx="3008376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A1A"/>
                </a:solidFill>
                <a:latin typeface="Nunito Sans"/>
              </a:defRPr>
            </a:pPr>
            <a:r>
              <a:t>SECONDARY TARGET</a:t>
            </a:r>
          </a:p>
          <a:p>
            <a:pPr>
              <a:defRPr sz="2000" b="1">
                <a:solidFill>
                  <a:srgbClr val="FFFFFF"/>
                </a:solidFill>
                <a:latin typeface="Rubik"/>
              </a:defRPr>
            </a:pPr>
            <a:r>
              <a:t>University Dorms</a:t>
            </a:r>
          </a:p>
          <a:p>
            <a:pPr>
              <a:defRPr sz="1200">
                <a:solidFill>
                  <a:srgbClr val="FFBA1A"/>
                </a:solidFill>
                <a:latin typeface="Nunito Sans"/>
              </a:defRPr>
            </a:pPr>
            <a:r>
              <a:t>Fast-paced party gaming</a:t>
            </a:r>
            <a:br/>
          </a:p>
          <a:p>
            <a:pPr>
              <a:defRPr sz="1150">
                <a:solidFill>
                  <a:srgbClr val="C9CEEA"/>
                </a:solidFill>
                <a:latin typeface="Nunito Sans"/>
              </a:defRPr>
            </a:pPr>
            <a:r>
              <a:t>• Social game nights &amp; dorm tournaments</a:t>
            </a:r>
          </a:p>
          <a:p>
            <a:pPr>
              <a:defRPr sz="1150">
                <a:solidFill>
                  <a:srgbClr val="C9CEEA"/>
                </a:solidFill>
                <a:latin typeface="Nunito Sans"/>
              </a:defRPr>
            </a:pPr>
            <a:r>
              <a:t>• Competitive speed-bonus tension</a:t>
            </a:r>
          </a:p>
          <a:p>
            <a:pPr>
              <a:defRPr sz="1150">
                <a:solidFill>
                  <a:srgbClr val="C9CEEA"/>
                </a:solidFill>
                <a:latin typeface="Nunito Sans"/>
              </a:defRPr>
            </a:pPr>
            <a:r>
              <a:t>• Zero cost, no console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11896" y="1783080"/>
            <a:ext cx="3337560" cy="310896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1965960"/>
            <a:ext cx="3008376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4DFF"/>
                </a:solidFill>
                <a:latin typeface="Nunito Sans"/>
              </a:defRPr>
            </a:pPr>
            <a:r>
              <a:t>TERTIARY TARGET</a:t>
            </a:r>
          </a:p>
          <a:p>
            <a:pPr>
              <a:defRPr sz="2000" b="1">
                <a:solidFill>
                  <a:srgbClr val="FFFFFF"/>
                </a:solidFill>
                <a:latin typeface="Rubik"/>
              </a:defRPr>
            </a:pPr>
            <a:r>
              <a:t>Classrooms</a:t>
            </a:r>
          </a:p>
          <a:p>
            <a:pPr>
              <a:defRPr sz="1200">
                <a:solidFill>
                  <a:srgbClr val="FFBA1A"/>
                </a:solidFill>
                <a:latin typeface="Nunito Sans"/>
              </a:defRPr>
            </a:pPr>
            <a:r>
              <a:t>Interactive visual quizzes</a:t>
            </a:r>
            <a:br/>
          </a:p>
          <a:p>
            <a:pPr>
              <a:defRPr sz="1150">
                <a:solidFill>
                  <a:srgbClr val="C9CEEA"/>
                </a:solidFill>
                <a:latin typeface="Nunito Sans"/>
              </a:defRPr>
            </a:pPr>
            <a:r>
              <a:t>• AirPlay quizzes on lecture displays</a:t>
            </a:r>
          </a:p>
          <a:p>
            <a:pPr>
              <a:defRPr sz="1150">
                <a:solidFill>
                  <a:srgbClr val="C9CEEA"/>
                </a:solidFill>
                <a:latin typeface="Nunito Sans"/>
              </a:defRPr>
            </a:pPr>
            <a:r>
              <a:t>• High legibility from back of room</a:t>
            </a:r>
          </a:p>
          <a:p>
            <a:pPr>
              <a:defRPr sz="1150">
                <a:solidFill>
                  <a:srgbClr val="C9CEEA"/>
                </a:solidFill>
                <a:latin typeface="Nunito Sans"/>
              </a:defRPr>
            </a:pPr>
            <a:r>
              <a:t>• Verified educational explanations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" y="5029200"/>
            <a:ext cx="10561320" cy="1115568"/>
          </a:xfrm>
          <a:prstGeom prst="roundRect">
            <a:avLst/>
          </a:prstGeom>
          <a:solidFill>
            <a:srgbClr val="1C2238"/>
          </a:solidFill>
          <a:ln w="12700">
            <a:solidFill>
              <a:srgbClr val="2E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Rubik"/>
              </a:defRPr>
            </a:pPr>
            <a:r>
              <a:t>MARKET OPPORTUNITY &amp; DATA METRICS</a:t>
            </a:r>
          </a:p>
          <a:p>
            <a:r>
              <a:rPr sz="1100" b="1">
                <a:solidFill>
                  <a:srgbClr val="FFFFFF"/>
                </a:solidFill>
                <a:latin typeface="Nunito Sans"/>
              </a:rPr>
              <a:t>• 40M+ Active Apple TV Devices: </a:t>
            </a:r>
            <a:r>
              <a:rPr sz="1050">
                <a:solidFill>
                  <a:srgbClr val="C9CEEA"/>
                </a:solidFill>
                <a:latin typeface="Nunito Sans"/>
              </a:rPr>
              <a:t>Premium living-room household base with 4K screens (Statista / Apple).</a:t>
            </a:r>
          </a:p>
          <a:p>
            <a:r>
              <a:rPr sz="1100" b="1">
                <a:solidFill>
                  <a:srgbClr val="FFFFFF"/>
                </a:solidFill>
                <a:latin typeface="Nunito Sans"/>
              </a:rPr>
              <a:t>• $18.2B Party Gaming Market: </a:t>
            </a:r>
            <a:r>
              <a:rPr sz="1050">
                <a:solidFill>
                  <a:srgbClr val="C9CEEA"/>
                </a:solidFill>
                <a:latin typeface="Nunito Sans"/>
              </a:rPr>
              <a:t>Growing at 8.4% annually with high demand for co-located social play (Newzoo).</a:t>
            </a:r>
          </a:p>
          <a:p>
            <a:r>
              <a:rPr sz="1100" b="1">
                <a:solidFill>
                  <a:srgbClr val="FFFFFF"/>
                </a:solidFill>
                <a:latin typeface="Nunito Sans"/>
              </a:rPr>
              <a:t>• Blue Ocean Opportunity: </a:t>
            </a:r>
            <a:r>
              <a:rPr sz="1050">
                <a:solidFill>
                  <a:srgbClr val="C9CEEA"/>
                </a:solidFill>
                <a:latin typeface="Nunito Sans"/>
              </a:rPr>
              <a:t>Zero direct competitors offering localized Sri Lankan trivia on Apple tvOS.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632764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D86A2"/>
                </a:solidFill>
                <a:latin typeface="Nunito Sans"/>
              </a:defRPr>
            </a:pPr>
            <a:r>
              <a:t>PartyPlay TV  •  SE4041 tvOS Project  •  Jayasundara R.K.M.J.Y. (IT22136374)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32764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Nunito Sans"/>
              </a:defRPr>
            </a:pPr>
            <a:r>
              <a:t>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Nunito Sans"/>
              </a:defRPr>
            </a:pPr>
            <a:r>
              <a:t>DIFFERENTIATION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777240"/>
            <a:ext cx="10561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Rubik"/>
              </a:defRPr>
            </a:pPr>
            <a:r>
              <a:t>Why PartyPlay TV Wins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298448"/>
            <a:ext cx="10561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C9CEEA"/>
                </a:solidFill>
                <a:latin typeface="Nunito Sans"/>
              </a:defRPr>
            </a:pPr>
            <a:r>
              <a:t>Clear advantages over existing alternatives, backed by a phased expansion plan.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3816" y="1783080"/>
          <a:ext cx="62179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143000"/>
                <a:gridCol w="1097280"/>
                <a:gridCol w="1143000"/>
              </a:tblGrid>
              <a:tr h="493776">
                <a:tc>
                  <a:txBody>
                    <a:bodyPr lIns="73152" rIns="73152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Nunito Sans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C2238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 b="1">
                          <a:solidFill>
                            <a:srgbClr val="00E5FF"/>
                          </a:solidFill>
                          <a:latin typeface="Nunito Sans"/>
                        </a:defRPr>
                      </a:pPr>
                      <a:r>
                        <a:t>PartyPlay TV</a:t>
                      </a:r>
                    </a:p>
                  </a:txBody>
                  <a:tcPr>
                    <a:solidFill>
                      <a:srgbClr val="1C2238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Nunito Sans"/>
                        </a:defRPr>
                      </a:pPr>
                      <a:r>
                        <a:t>Jackbox</a:t>
                      </a:r>
                    </a:p>
                  </a:txBody>
                  <a:tcPr>
                    <a:solidFill>
                      <a:srgbClr val="1C2238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Nunito Sans"/>
                        </a:defRPr>
                      </a:pPr>
                      <a:r>
                        <a:t>Kahoot!</a:t>
                      </a:r>
                    </a:p>
                  </a:txBody>
                  <a:tcPr>
                    <a:solidFill>
                      <a:srgbClr val="1C2238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Nunito Sans"/>
                        </a:defRPr>
                      </a:pPr>
                      <a:r>
                        <a:t>TV Clones</a:t>
                      </a:r>
                    </a:p>
                  </a:txBody>
                  <a:tcPr>
                    <a:solidFill>
                      <a:srgbClr val="1C2238"/>
                    </a:solidFill>
                  </a:tcPr>
                </a:tc>
              </a:tr>
              <a:tr h="493776">
                <a:tc>
                  <a:txBody>
                    <a:bodyPr lIns="73152" rIns="73152"/>
                    <a:lstStyle/>
                    <a:p>
                      <a:pPr>
                        <a:defRPr sz="1050">
                          <a:solidFill>
                            <a:srgbClr val="C9CEEA"/>
                          </a:solidFill>
                          <a:latin typeface="Nunito Sans"/>
                        </a:defRPr>
                      </a:pPr>
                      <a:r>
                        <a:t>Native 10-Foot UI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 b="1">
                          <a:solidFill>
                            <a:srgbClr val="FFBA1A"/>
                          </a:solidFill>
                          <a:latin typeface="Nunito Sans"/>
                        </a:defRPr>
                      </a:pPr>
                      <a:r>
                        <a:t>Yes (Siri Remote)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>
                          <a:solidFill>
                            <a:srgbClr val="C9CEEA"/>
                          </a:solidFill>
                          <a:latin typeface="Nunito Sans"/>
                        </a:defRPr>
                      </a:pPr>
                      <a:r>
                        <a:t>Port only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>
                          <a:solidFill>
                            <a:srgbClr val="C9CEEA"/>
                          </a:solidFill>
                          <a:latin typeface="Nunito Sans"/>
                        </a:defRPr>
                      </a:pPr>
                      <a:r>
                        <a:t>Mobile only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>
                          <a:solidFill>
                            <a:srgbClr val="C9CEEA"/>
                          </a:solidFill>
                          <a:latin typeface="Nunito Sans"/>
                        </a:defRPr>
                      </a:pPr>
                      <a:r>
                        <a:t>Clunky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</a:tr>
              <a:tr h="493776">
                <a:tc>
                  <a:txBody>
                    <a:bodyPr lIns="73152" rIns="73152"/>
                    <a:lstStyle/>
                    <a:p>
                      <a:pPr>
                        <a:defRPr sz="1050">
                          <a:solidFill>
                            <a:srgbClr val="C9CEEA"/>
                          </a:solidFill>
                          <a:latin typeface="Nunito Sans"/>
                        </a:defRPr>
                      </a:pPr>
                      <a:r>
                        <a:t>Price / Barrier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 b="1">
                          <a:solidFill>
                            <a:srgbClr val="FFBA1A"/>
                          </a:solidFill>
                          <a:latin typeface="Nunito Sans"/>
                        </a:defRPr>
                      </a:pPr>
                      <a:r>
                        <a:t>Free Prototype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>
                          <a:solidFill>
                            <a:srgbClr val="C9CEEA"/>
                          </a:solidFill>
                          <a:latin typeface="Nunito Sans"/>
                        </a:defRPr>
                      </a:pPr>
                      <a:r>
                        <a:t>$30 / pack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>
                          <a:solidFill>
                            <a:srgbClr val="C9CEEA"/>
                          </a:solidFill>
                          <a:latin typeface="Nunito Sans"/>
                        </a:defRPr>
                      </a:pPr>
                      <a:r>
                        <a:t>$10+/mo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>
                          <a:solidFill>
                            <a:srgbClr val="C9CEEA"/>
                          </a:solidFill>
                          <a:latin typeface="Nunito Sans"/>
                        </a:defRPr>
                      </a:pPr>
                      <a:r>
                        <a:t>Ad-heavy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</a:tr>
              <a:tr h="493776">
                <a:tc>
                  <a:txBody>
                    <a:bodyPr lIns="73152" rIns="73152"/>
                    <a:lstStyle/>
                    <a:p>
                      <a:pPr>
                        <a:defRPr sz="1050">
                          <a:solidFill>
                            <a:srgbClr val="C9CEEA"/>
                          </a:solidFill>
                          <a:latin typeface="Nunito Sans"/>
                        </a:defRPr>
                      </a:pPr>
                      <a:r>
                        <a:t>100% Offline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 b="1">
                          <a:solidFill>
                            <a:srgbClr val="FFBA1A"/>
                          </a:solidFill>
                          <a:latin typeface="Nunito Sans"/>
                        </a:defRPr>
                      </a:pPr>
                      <a:r>
                        <a:t>Yes (Bots+JSON)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>
                          <a:solidFill>
                            <a:srgbClr val="C9CEEA"/>
                          </a:solidFill>
                          <a:latin typeface="Nunito Sans"/>
                        </a:defRPr>
                      </a:pPr>
                      <a:r>
                        <a:t>Needs Net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>
                          <a:solidFill>
                            <a:srgbClr val="C9CEEA"/>
                          </a:solidFill>
                          <a:latin typeface="Nunito Sans"/>
                        </a:defRPr>
                      </a:pPr>
                      <a:r>
                        <a:t>Cloud only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>
                          <a:solidFill>
                            <a:srgbClr val="C9CEEA"/>
                          </a:solidFill>
                          <a:latin typeface="Nunito Sans"/>
                        </a:defRPr>
                      </a:pPr>
                      <a:r>
                        <a:t>Crashes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</a:tr>
              <a:tr h="493776">
                <a:tc>
                  <a:txBody>
                    <a:bodyPr lIns="73152" rIns="73152"/>
                    <a:lstStyle/>
                    <a:p>
                      <a:pPr>
                        <a:defRPr sz="1050">
                          <a:solidFill>
                            <a:srgbClr val="C9CEEA"/>
                          </a:solidFill>
                          <a:latin typeface="Nunito Sans"/>
                        </a:defRPr>
                      </a:pPr>
                      <a:r>
                        <a:t>Local Heritage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 b="1">
                          <a:solidFill>
                            <a:srgbClr val="FFBA1A"/>
                          </a:solidFill>
                          <a:latin typeface="Nunito Sans"/>
                        </a:defRPr>
                      </a:pPr>
                      <a:r>
                        <a:t>Yes (Sri Lanka)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>
                          <a:solidFill>
                            <a:srgbClr val="C9CEEA"/>
                          </a:solidFill>
                          <a:latin typeface="Nunito Sans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>
                          <a:solidFill>
                            <a:srgbClr val="C9CEEA"/>
                          </a:solidFill>
                          <a:latin typeface="Nunito Sans"/>
                        </a:defRPr>
                      </a:pPr>
                      <a:r>
                        <a:t>Unverified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050">
                          <a:solidFill>
                            <a:srgbClr val="C9CEEA"/>
                          </a:solidFill>
                          <a:latin typeface="Nunito Sans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61A2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260336" y="1783080"/>
            <a:ext cx="4114800" cy="434340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965960"/>
            <a:ext cx="3749039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E5FF"/>
                </a:solidFill>
                <a:latin typeface="Rubik"/>
              </a:defRPr>
            </a:pPr>
            <a:r>
              <a:t>PHASED ROADMAP</a:t>
            </a:r>
          </a:p>
          <a:p>
            <a:r>
              <a:rPr sz="1100" b="1">
                <a:solidFill>
                  <a:srgbClr val="00D973"/>
                </a:solidFill>
                <a:latin typeface="Nunito Sans"/>
              </a:rPr>
              <a:t>
PHASE 1: IMPLEMENTED (CURRENT)
</a:t>
            </a:r>
            <a:r>
              <a:rPr sz="1050">
                <a:solidFill>
                  <a:srgbClr val="C9CEEA"/>
                </a:solidFill>
                <a:latin typeface="Nunito Sans"/>
              </a:rPr>
              <a:t>• Native tvOS 17 app in Swift 5.9
• 6 categories with 42 verified questions
• Siri Remote focus &amp; offline bot simulation
• 10/10 passing unit tests &amp; JSON storage</a:t>
            </a:r>
          </a:p>
          <a:p>
            <a:r>
              <a:rPr sz="1100" b="1">
                <a:solidFill>
                  <a:srgbClr val="FFBA1A"/>
                </a:solidFill>
                <a:latin typeface="Nunito Sans"/>
              </a:rPr>
              <a:t>
PHASE 2: PROPOSED COMPANION (NEXT)
</a:t>
            </a:r>
            <a:r>
              <a:rPr sz="1050">
                <a:solidFill>
                  <a:srgbClr val="C9CEEA"/>
                </a:solidFill>
                <a:latin typeface="Nunito Sans"/>
              </a:rPr>
              <a:t>• Lightweight WebSocket server
• Real-time phone buzzers via partyplay.tv/join
• Zero app install needed on phones</a:t>
            </a:r>
          </a:p>
          <a:p>
            <a:r>
              <a:rPr sz="1100" b="1">
                <a:solidFill>
                  <a:srgbClr val="7C4DFF"/>
                </a:solidFill>
                <a:latin typeface="Nunito Sans"/>
              </a:rPr>
              <a:t>
PHASE 3: FUTURE ECOSYSTEM
</a:t>
            </a:r>
            <a:r>
              <a:rPr sz="1050">
                <a:solidFill>
                  <a:srgbClr val="C9CEEA"/>
                </a:solidFill>
                <a:latin typeface="Nunito Sans"/>
              </a:rPr>
              <a:t>• FaceTime SharePlay for remote game nights
• Custom trivia question creator portal
• Siri voice-command answer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4434840"/>
            <a:ext cx="6217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Rubik"/>
              </a:defRPr>
            </a:pPr>
            <a:r>
              <a:t>CORE ADVANTAGES</a:t>
            </a:r>
          </a:p>
          <a:p>
            <a:pPr>
              <a:defRPr sz="1150">
                <a:solidFill>
                  <a:srgbClr val="C9CEEA"/>
                </a:solidFill>
                <a:latin typeface="Nunito Sans"/>
              </a:defRPr>
            </a:pPr>
            <a:r>
              <a:t>• Zero Cost: Free prototype with no paywalls or ads</a:t>
            </a:r>
            <a:br/>
            <a:r>
              <a:t>• Couch Ergonomics: First-class Siri Remote Focus Engine</a:t>
            </a:r>
            <a:br/>
            <a:r>
              <a:t>• Offline Autonomy: Never fails when Wi-Fi is spotty</a:t>
            </a:r>
            <a:br/>
            <a:r>
              <a:t>• Culturally Rich: First dedicated Sri Lankan trivia on tvOS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632764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D86A2"/>
                </a:solidFill>
                <a:latin typeface="Nunito Sans"/>
              </a:defRPr>
            </a:pPr>
            <a:r>
              <a:t>PartyPlay TV  •  SE4041 tvOS Project  •  Jayasundara R.K.M.J.Y. (IT22136374)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32764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Nunito Sans"/>
              </a:defRPr>
            </a:pPr>
            <a:r>
              <a:t>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Nunito Sans"/>
              </a:defRPr>
            </a:pPr>
            <a: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777240"/>
            <a:ext cx="10561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Rubik"/>
              </a:defRPr>
            </a:pPr>
            <a:r>
              <a:t>Native Architecture &amp; Verified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298448"/>
            <a:ext cx="10561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C9CEEA"/>
                </a:solidFill>
                <a:latin typeface="Nunito Sans"/>
              </a:defRPr>
            </a:pPr>
            <a:r>
              <a:t>Clean MVVM architecture, 100% native Apple frameworks, and verified automated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1783080"/>
            <a:ext cx="5120640" cy="434340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7548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E5FF"/>
                </a:solidFill>
                <a:latin typeface="Rubik"/>
              </a:defRPr>
            </a:pPr>
            <a:r>
              <a:t>CORE ARCHITECTURE &amp; TECH STACK</a:t>
            </a:r>
          </a:p>
          <a:p>
            <a:r>
              <a:rPr sz="1150" b="1">
                <a:solidFill>
                  <a:srgbClr val="FFBA1A"/>
                </a:solidFill>
                <a:latin typeface="Nunito Sans"/>
              </a:rPr>
              <a:t>
▶ Swift 5.9 &amp; tvOS 17.2 SDK
</a:t>
            </a:r>
            <a:r>
              <a:rPr sz="1050">
                <a:solidFill>
                  <a:srgbClr val="C9CEEA"/>
                </a:solidFill>
                <a:latin typeface="Nunito Sans"/>
              </a:rPr>
              <a:t>Built in Xcode 15.2 with under 15MB binary size.</a:t>
            </a:r>
          </a:p>
          <a:p>
            <a:r>
              <a:rPr sz="1150" b="1">
                <a:solidFill>
                  <a:srgbClr val="FFBA1A"/>
                </a:solidFill>
                <a:latin typeface="Nunito Sans"/>
              </a:rPr>
              <a:t>
▶ Strict MVVM Pattern
</a:t>
            </a:r>
            <a:r>
              <a:rPr sz="1050">
                <a:solidFill>
                  <a:srgbClr val="C9CEEA"/>
                </a:solidFill>
                <a:latin typeface="Nunito Sans"/>
              </a:rPr>
              <a:t>Centralized AppContainer manages service dependency injection.</a:t>
            </a:r>
          </a:p>
          <a:p>
            <a:r>
              <a:rPr sz="1150" b="1">
                <a:solidFill>
                  <a:srgbClr val="FFBA1A"/>
                </a:solidFill>
                <a:latin typeface="Nunito Sans"/>
              </a:rPr>
              <a:t>
▶ Combine State Machine
</a:t>
            </a:r>
            <a:r>
              <a:rPr sz="1050">
                <a:solidFill>
                  <a:srgbClr val="C9CEEA"/>
                </a:solidFill>
                <a:latin typeface="Nunito Sans"/>
              </a:rPr>
              <a:t>Coordinates countdown timers, input locks, and score calculations.</a:t>
            </a:r>
          </a:p>
          <a:p>
            <a:r>
              <a:rPr sz="1150" b="1">
                <a:solidFill>
                  <a:srgbClr val="FFBA1A"/>
                </a:solidFill>
                <a:latin typeface="Nunito Sans"/>
              </a:rPr>
              <a:t>
▶ CoreImage Vector QR
</a:t>
            </a:r>
            <a:r>
              <a:rPr sz="1050">
                <a:solidFill>
                  <a:srgbClr val="C9CEEA"/>
                </a:solidFill>
                <a:latin typeface="Nunito Sans"/>
              </a:rPr>
              <a:t>Native CIFilter draws sharp QR codes on-the-fly without 3rd-party pods.</a:t>
            </a:r>
          </a:p>
          <a:p>
            <a:r>
              <a:rPr sz="1150" b="1">
                <a:solidFill>
                  <a:srgbClr val="FFBA1A"/>
                </a:solidFill>
                <a:latin typeface="Nunito Sans"/>
              </a:rPr>
              <a:t>
▶ 0 External Dependencies
</a:t>
            </a:r>
            <a:r>
              <a:rPr sz="1050">
                <a:solidFill>
                  <a:srgbClr val="C9CEEA"/>
                </a:solidFill>
                <a:latin typeface="Nunito Sans"/>
              </a:rPr>
              <a:t>100% native Apple frameworks for maximum stability and speed.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783080"/>
            <a:ext cx="5120640" cy="434340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00D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47548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973"/>
                </a:solidFill>
                <a:latin typeface="Rubik"/>
              </a:defRPr>
            </a:pPr>
            <a:r>
              <a:t>VERIFIED UNIT TESTING &amp; METRICS</a:t>
            </a:r>
          </a:p>
          <a:p>
            <a:r>
              <a:rPr sz="1150" b="1">
                <a:solidFill>
                  <a:srgbClr val="FFFFFF"/>
                </a:solidFill>
                <a:latin typeface="Nunito Sans"/>
              </a:rPr>
              <a:t>
✓ 10/10 Passing Unit Tests (100% Pass Rate)
</a:t>
            </a:r>
            <a:r>
              <a:rPr sz="1050">
                <a:solidFill>
                  <a:srgbClr val="C9CEEA"/>
                </a:solidFill>
                <a:latin typeface="Nunito Sans"/>
              </a:rPr>
              <a:t>• ScoreServiceTests (4/4): Base points, speed bonuses, tie-breaks
• QuizDataServiceTests (4/4): JSON integrity, category filters, Sri Lanka content
• GameEngineTests (3/3): Clean reset, single-click lock, game loop</a:t>
            </a:r>
          </a:p>
          <a:p>
            <a:r>
              <a:rPr sz="1150" b="1">
                <a:solidFill>
                  <a:srgbClr val="FFFFFF"/>
                </a:solidFill>
                <a:latin typeface="Nunito Sans"/>
              </a:rPr>
              <a:t>
✓ Verified Performance
</a:t>
            </a:r>
            <a:r>
              <a:rPr sz="1050">
                <a:solidFill>
                  <a:srgbClr val="C9CEEA"/>
                </a:solidFill>
                <a:latin typeface="Nunito Sans"/>
              </a:rPr>
              <a:t>• Fluid 60 FPS remote focus navigation on Apple TV 4K
• Zero memory leaks across complete match cycles
• Full Reduce Motion &amp; High Contrast support</a:t>
            </a:r>
          </a:p>
          <a:p>
            <a:r>
              <a:rPr sz="1150" b="1">
                <a:solidFill>
                  <a:srgbClr val="FFFFFF"/>
                </a:solidFill>
                <a:latin typeface="Nunito Sans"/>
              </a:rPr>
              <a:t>
✓ Practical Impact
</a:t>
            </a:r>
            <a:r>
              <a:rPr sz="1050">
                <a:solidFill>
                  <a:srgbClr val="C9CEEA"/>
                </a:solidFill>
                <a:latin typeface="Nunito Sans"/>
              </a:rPr>
              <a:t>• Makes television an active social medium for the living room
• Delivers cultural knowledge in a fun, competitive 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632764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D86A2"/>
                </a:solidFill>
                <a:latin typeface="Nunito Sans"/>
              </a:defRPr>
            </a:pPr>
            <a:r>
              <a:t>PartyPlay TV  •  SE4041 tvOS Project  •  Jayasundara R.K.M.J.Y. (IT22136374)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32764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Nunito Sans"/>
              </a:defRPr>
            </a:pPr>
            <a:r>
              <a:t>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50292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Nunito Sans"/>
              </a:defRPr>
            </a:pPr>
            <a:r>
              <a:t>CONCLUSION &amp;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777240"/>
            <a:ext cx="10561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Rubik"/>
              </a:defRPr>
            </a:pPr>
            <a:r>
              <a:t>Bringing the Game Show to Every Living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298448"/>
            <a:ext cx="10561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C9CEEA"/>
                </a:solidFill>
                <a:latin typeface="Nunito Sans"/>
              </a:defRPr>
            </a:pPr>
            <a:r>
              <a:t>A complete, production-ready tvOS platform ready for live simulator demonstration.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1783080"/>
            <a:ext cx="3337560" cy="201168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920240"/>
            <a:ext cx="3008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Nunito Sans"/>
              </a:defRPr>
            </a:pPr>
            <a:r>
              <a:t>INNOVATION</a:t>
            </a:r>
          </a:p>
          <a:p>
            <a:pPr>
              <a:defRPr sz="2000" b="1">
                <a:solidFill>
                  <a:srgbClr val="FFFFFF"/>
                </a:solidFill>
                <a:latin typeface="Rubik"/>
              </a:defRPr>
            </a:pPr>
            <a:r>
              <a:t>Living Room Stage</a:t>
            </a:r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Replaces passive video and solitary phone screens with a broadcast game show.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62855" y="1783080"/>
            <a:ext cx="3337560" cy="201168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FFB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7" y="1920240"/>
            <a:ext cx="3008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A1A"/>
                </a:solidFill>
                <a:latin typeface="Nunito Sans"/>
              </a:defRPr>
            </a:pPr>
            <a:r>
              <a:t>TECHNICAL RIGOR</a:t>
            </a:r>
          </a:p>
          <a:p>
            <a:pPr>
              <a:defRPr sz="2000" b="1">
                <a:solidFill>
                  <a:srgbClr val="FFFFFF"/>
                </a:solidFill>
                <a:latin typeface="Rubik"/>
              </a:defRPr>
            </a:pPr>
            <a:r>
              <a:t>Native MVVM &amp; Tests</a:t>
            </a:r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Swift 5.9, tvOS 17 SDK, 10/10 passing unit tests, and 0 third-party bloat.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11896" y="1783080"/>
            <a:ext cx="3337560" cy="2011680"/>
          </a:xfrm>
          <a:prstGeom prst="roundRect">
            <a:avLst/>
          </a:prstGeom>
          <a:solidFill>
            <a:srgbClr val="161A2C"/>
          </a:solidFill>
          <a:ln w="19050">
            <a:solidFill>
              <a:srgbClr val="00D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1920240"/>
            <a:ext cx="3008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73"/>
                </a:solidFill>
                <a:latin typeface="Nunito Sans"/>
              </a:defRPr>
            </a:pPr>
            <a:r>
              <a:t>ZERO BARRIERS</a:t>
            </a:r>
          </a:p>
          <a:p>
            <a:pPr>
              <a:defRPr sz="2000" b="1">
                <a:solidFill>
                  <a:srgbClr val="FFFFFF"/>
                </a:solidFill>
                <a:latin typeface="Rubik"/>
              </a:defRPr>
            </a:pPr>
            <a:r>
              <a:t>Instant Offline Play</a:t>
            </a:r>
          </a:p>
          <a:p>
            <a:pPr>
              <a:defRPr sz="1200">
                <a:solidFill>
                  <a:srgbClr val="C9CEEA"/>
                </a:solidFill>
                <a:latin typeface="Nunito Sans"/>
              </a:defRPr>
            </a:pPr>
            <a:r>
              <a:t>100% offline out-of-the-box with smart AI bots and QR companion pairing.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" y="3977639"/>
            <a:ext cx="10561320" cy="2148840"/>
          </a:xfrm>
          <a:prstGeom prst="roundRect">
            <a:avLst/>
          </a:prstGeom>
          <a:solidFill>
            <a:srgbClr val="1C2238"/>
          </a:solidFill>
          <a:ln w="25400">
            <a:solidFill>
              <a:srgbClr val="FFB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10058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BA1A"/>
                </a:solidFill>
                <a:latin typeface="Rubik"/>
              </a:defRPr>
            </a:pPr>
            <a:r>
              <a:t>PROCEEDING TO LIVE SIMULATOR DEMO ON APPLE TV 4K</a:t>
            </a:r>
          </a:p>
          <a:p>
            <a:pPr>
              <a:defRPr sz="1150">
                <a:solidFill>
                  <a:srgbClr val="FFFFFF"/>
                </a:solidFill>
                <a:latin typeface="Nunito Sans"/>
              </a:defRPr>
            </a:pPr>
            <a:r>
              <a:t>Live Demonstration Path:</a:t>
            </a:r>
            <a:br/>
            <a:r>
              <a:t>1. Home Stage: Hero game show branding &amp; Siri Remote focus scaling</a:t>
            </a:r>
            <a:br/>
            <a:r>
              <a:t>2. Category Select: Browse the 6 themes and select the 'Sri Lanka Quiz'</a:t>
            </a:r>
            <a:br/>
            <a:r>
              <a:t>3. Party Lobby: Room code PLAY88, QR generator &amp; simulated bots</a:t>
            </a:r>
            <a:br/>
            <a:r>
              <a:t>4. Quiz Arena: Circular countdown ring, speed bonus (+50%) &amp; educational context</a:t>
            </a:r>
            <a:br/>
            <a:r>
              <a:t>5. Champion Podium: 3D-style podium celebration and accuracy rankings</a:t>
            </a:r>
          </a:p>
          <a:p>
            <a:r>
              <a:rPr sz="1300" b="1">
                <a:solidFill>
                  <a:srgbClr val="FFFFFF"/>
                </a:solidFill>
                <a:latin typeface="Nunito Sans"/>
              </a:rPr>
              <a:t>
Thank you for your time. Presenter: </a:t>
            </a:r>
            <a:r>
              <a:rPr sz="1300" b="1">
                <a:solidFill>
                  <a:srgbClr val="FFBA1A"/>
                </a:solidFill>
                <a:latin typeface="Nunito Sans"/>
              </a:rPr>
              <a:t>Jayasundara R.K.M.J.Y. (IT22136374)</a:t>
            </a:r>
            <a:r>
              <a:rPr sz="1300" b="1">
                <a:solidFill>
                  <a:srgbClr val="00E5FF"/>
                </a:solidFill>
                <a:latin typeface="Nunito Sans"/>
              </a:rPr>
              <a:t>  •  SE4041 MADD Part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632764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D86A2"/>
                </a:solidFill>
                <a:latin typeface="Nunito Sans"/>
              </a:defRPr>
            </a:pPr>
            <a:r>
              <a:t>PartyPlay TV  •  SE4041 tvOS Project  •  Jayasundara R.K.M.J.Y. (IT22136374)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32764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Nunito Sans"/>
              </a:defRPr>
            </a:pPr>
            <a:r>
              <a:t>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